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  <p:defaultTextStyle>
    <a:defPPr/>
    <a:lvl1pPr marL="0" algn="l">
      <a:defRPr sz="1800"/>
    </a:lvl1pPr>
    <a:lvl2pPr marL="457200" algn="l">
      <a:defRPr sz="1600"/>
    </a:lvl2pPr>
    <a:lvl3pPr marL="914400" algn="l">
      <a:defRPr sz="1400"/>
    </a:lvl3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rporate 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>
      <a:lvl1pPr algn="l">
        <a:defRPr sz="2800" b="1"/>
      </a:lvl1pPr>
    </p:titleStyle>
    <p:bodyStyle>
      <a:lvl1pPr marL="342900" indent="-228600">
        <a:buChar char="•"/>
        <a:defRPr sz="1800"/>
      </a:lvl1pPr>
    </p:bodyStyle>
    <p:otherStyle>
      <a:lvl1pPr>
        <a:defRPr sz="16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4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2600" dirty="0" smtClean="0" b="1">
                <a:solidFill>
                  <a:srgbClr val="FFFFFF"/>
                </a:solidFill>
              </a:rPr>
              <a:t>HỆ THỐNG OKR/KPI HR</a:t>
            </a:r>
            <a:endParaRPr lang="vi-VN" sz="2600">
              <a:solidFill>
                <a:srgbClr val="FFFFFF"/>
              </a:solidFill>
            </a:endParaRPr>
          </a:p>
        </p:txBody>
      </p:sp>
      <p:sp>
        <p:nvSpPr>
          <p:cNvPr id="4" name="Content"/>
          <p:cNvSpPr txBox="1"/>
          <p:nvPr/>
        </p:nvSpPr>
        <p:spPr>
          <a:xfrm>
            <a:off x="760000" y="138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1800" dirty="0" smtClean="0">
                <a:solidFill>
                  <a:srgbClr val="E2E8F0"/>
                </a:solidFill>
              </a:rPr>
              <a:t>Tài liệu trình bày tổng hợp</a:t>
            </a:r>
            <a:endParaRPr lang="vi-VN" sz="1800">
              <a:solidFill>
                <a:srgbClr val="E2E8F0"/>
              </a:solidFill>
            </a:endParaRPr>
          </a:p>
          <a:p>
            <a:pPr/>
            <a:r>
              <a:rPr lang="vi-VN" sz="1800" dirty="0" smtClean="0">
                <a:solidFill>
                  <a:srgbClr val="E2E8F0"/>
                </a:solidFill>
              </a:rPr>
              <a:t>Mô hình workspace một trang cho đánh giá hiệu suất nhân sự theo kỳ</a:t>
            </a:r>
            <a:endParaRPr lang="vi-VN" sz="1800">
              <a:solidFill>
                <a:srgbClr val="E2E8F0"/>
              </a:solidFill>
            </a:endParaRPr>
          </a:p>
          <a:p>
            <a:endParaRPr lang="vi-VN" sz="1200"/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E2E8F0"/>
                </a:solidFill>
              </a:rPr>
              <a:t>Tập trung vào vận hành thực tế cho doanh nghiệp</a:t>
            </a:r>
            <a:endParaRPr lang="vi-VN" sz="1800">
              <a:solidFill>
                <a:srgbClr val="E2E8F0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E2E8F0"/>
                </a:solidFill>
              </a:rPr>
              <a:t>Phân quyền rõ giữa Admin, HR, Manager và Employee</a:t>
            </a:r>
            <a:endParaRPr lang="vi-VN" sz="1800">
              <a:solidFill>
                <a:srgbClr val="E2E8F0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E2E8F0"/>
                </a:solidFill>
              </a:rPr>
              <a:t>Toàn bộ thao tác chính diễn ra trên một workspace thống nhất</a:t>
            </a:r>
            <a:endParaRPr lang="vi-VN" sz="1800">
              <a:solidFill>
                <a:srgbClr val="E2E8F0"/>
              </a:solidFill>
            </a:endParaRPr>
          </a:p>
        </p:txBody>
      </p:sp>
      <p:sp>
        <p:nvSpPr>
          <p:cNvPr id="5" name="Footer"/>
          <p:cNvSpPr txBox="1"/>
          <p:nvPr/>
        </p:nvSpPr>
        <p:spPr>
          <a:xfrm>
            <a:off x="760000" y="6120000"/>
            <a:ext cx="10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1000" dirty="0" smtClean="0">
                <a:solidFill>
                  <a:srgbClr val="94A3B8"/>
                </a:solidFill>
              </a:rPr>
              <a:t>OKR/KPI HR • Slide 1</a:t>
            </a:r>
            <a:endParaRPr lang="vi-VN" sz="100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4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2600" dirty="0" smtClean="0" b="1">
                <a:solidFill>
                  <a:srgbClr val="0F172A"/>
                </a:solidFill>
              </a:rPr>
              <a:t>Mục tiêu và phạm vi hệ thống</a:t>
            </a:r>
            <a:endParaRPr lang="vi-VN" sz="2600">
              <a:solidFill>
                <a:srgbClr val="0F172A"/>
              </a:solidFill>
            </a:endParaRPr>
          </a:p>
        </p:txBody>
      </p:sp>
      <p:sp>
        <p:nvSpPr>
          <p:cNvPr id="4" name="Content"/>
          <p:cNvSpPr txBox="1"/>
          <p:nvPr/>
        </p:nvSpPr>
        <p:spPr>
          <a:xfrm>
            <a:off x="760000" y="138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Đánh giá hiệu suất nhân sự theo tháng, quý và năm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Quản lý hồ sơ theo nhân sự, kỳ đánh giá và tiêu chí đo lường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Ghi nhận minh chứng, nhận xét nhiều cấp và lịch sử phê duyệt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Khóa hồ sơ sau khi hoàn tất để bảo toàn dữ liệu đánh giá</a:t>
            </a:r>
            <a:endParaRPr lang="vi-VN" sz="1800">
              <a:solidFill>
                <a:srgbClr val="334155"/>
              </a:solidFill>
            </a:endParaRPr>
          </a:p>
        </p:txBody>
      </p:sp>
      <p:sp>
        <p:nvSpPr>
          <p:cNvPr id="5" name="Footer"/>
          <p:cNvSpPr txBox="1"/>
          <p:nvPr/>
        </p:nvSpPr>
        <p:spPr>
          <a:xfrm>
            <a:off x="760000" y="6120000"/>
            <a:ext cx="10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1000" dirty="0" smtClean="0">
                <a:solidFill>
                  <a:srgbClr val="94A3B8"/>
                </a:solidFill>
              </a:rPr>
              <a:t>OKR/KPI HR • Slide 2</a:t>
            </a:r>
            <a:endParaRPr lang="vi-VN" sz="100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4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2600" dirty="0" smtClean="0" b="1">
                <a:solidFill>
                  <a:srgbClr val="0F172A"/>
                </a:solidFill>
              </a:rPr>
              <a:t>Kiến trúc trải nghiệm hiện tại</a:t>
            </a:r>
            <a:endParaRPr lang="vi-VN" sz="2600">
              <a:solidFill>
                <a:srgbClr val="0F172A"/>
              </a:solidFill>
            </a:endParaRPr>
          </a:p>
        </p:txBody>
      </p:sp>
      <p:sp>
        <p:nvSpPr>
          <p:cNvPr id="4" name="Content"/>
          <p:cNvSpPr txBox="1"/>
          <p:nvPr/>
        </p:nvSpPr>
        <p:spPr>
          <a:xfrm>
            <a:off x="760000" y="138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Frontend active chỉ còn hai route chính: Login và Workspace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Người dùng không phải nhảy qua nhiều module rời rạc như trước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Giao diện ưu tiên dễ dùng, tải nhanh và phù hợp người dùng nội bộ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Biểu đồ tổng quan được đặt cùng hồ sơ để theo dõi nhanh tình trạng</a:t>
            </a:r>
            <a:endParaRPr lang="vi-VN" sz="1800">
              <a:solidFill>
                <a:srgbClr val="334155"/>
              </a:solidFill>
            </a:endParaRPr>
          </a:p>
        </p:txBody>
      </p:sp>
      <p:sp>
        <p:nvSpPr>
          <p:cNvPr id="5" name="Footer"/>
          <p:cNvSpPr txBox="1"/>
          <p:nvPr/>
        </p:nvSpPr>
        <p:spPr>
          <a:xfrm>
            <a:off x="760000" y="6120000"/>
            <a:ext cx="10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1000" dirty="0" smtClean="0">
                <a:solidFill>
                  <a:srgbClr val="94A3B8"/>
                </a:solidFill>
              </a:rPr>
              <a:t>OKR/KPI HR • Slide 3</a:t>
            </a:r>
            <a:endParaRPr lang="vi-VN" sz="100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4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2600" dirty="0" smtClean="0" b="1">
                <a:solidFill>
                  <a:srgbClr val="0F172A"/>
                </a:solidFill>
              </a:rPr>
              <a:t>Quy trình sử dụng tổng quát</a:t>
            </a:r>
            <a:endParaRPr lang="vi-VN" sz="2600">
              <a:solidFill>
                <a:srgbClr val="0F172A"/>
              </a:solidFill>
            </a:endParaRPr>
          </a:p>
        </p:txBody>
      </p:sp>
      <p:sp>
        <p:nvSpPr>
          <p:cNvPr id="4" name="Content"/>
          <p:cNvSpPr txBox="1"/>
          <p:nvPr/>
        </p:nvSpPr>
        <p:spPr>
          <a:xfrm>
            <a:off x="760000" y="138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Đăng nhập bằng mã nhân viên hoặc email do Admin cấp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Chọn nhân sự và chu kỳ đánh giá cần thao tác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Tạo chu kỳ và tạo hồ sơ đánh giá nếu hồ sơ chưa tồn tại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Cập nhật tiêu chí, minh chứng, nhận xét và tiến độ thực hiện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Submit, duyệt nhiều cấp, sau cùng khóa hồ sơ</a:t>
            </a:r>
            <a:endParaRPr lang="vi-VN" sz="1800">
              <a:solidFill>
                <a:srgbClr val="334155"/>
              </a:solidFill>
            </a:endParaRPr>
          </a:p>
        </p:txBody>
      </p:sp>
      <p:sp>
        <p:nvSpPr>
          <p:cNvPr id="5" name="Footer"/>
          <p:cNvSpPr txBox="1"/>
          <p:nvPr/>
        </p:nvSpPr>
        <p:spPr>
          <a:xfrm>
            <a:off x="760000" y="6120000"/>
            <a:ext cx="10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1000" dirty="0" smtClean="0">
                <a:solidFill>
                  <a:srgbClr val="94A3B8"/>
                </a:solidFill>
              </a:rPr>
              <a:t>OKR/KPI HR • Slide 4</a:t>
            </a:r>
            <a:endParaRPr lang="vi-VN" sz="100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4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2600" dirty="0" smtClean="0" b="1">
                <a:solidFill>
                  <a:srgbClr val="0F172A"/>
                </a:solidFill>
              </a:rPr>
              <a:t>Cấp bậc vai trò trong hệ thống</a:t>
            </a:r>
            <a:endParaRPr lang="vi-VN" sz="2600">
              <a:solidFill>
                <a:srgbClr val="0F172A"/>
              </a:solidFill>
            </a:endParaRPr>
          </a:p>
        </p:txBody>
      </p:sp>
      <p:sp>
        <p:nvSpPr>
          <p:cNvPr id="4" name="Content"/>
          <p:cNvSpPr txBox="1"/>
          <p:nvPr/>
        </p:nvSpPr>
        <p:spPr>
          <a:xfrm>
            <a:off x="760000" y="138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Admin: quyền cao nhất, quản trị tài khoản, mở khóa và giám sát toàn hệ thống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HR: kiểm soát hồ sơ, phê duyệt ở cấp nhân sự và khóa hồ sơ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Manager: tạo khung đánh giá, theo dõi đội nhóm và duyệt cấp quản lý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Employee: chỉ cập nhật hồ sơ của chính mình và submit để duyệt</a:t>
            </a:r>
            <a:endParaRPr lang="vi-VN" sz="1800">
              <a:solidFill>
                <a:srgbClr val="334155"/>
              </a:solidFill>
            </a:endParaRPr>
          </a:p>
        </p:txBody>
      </p:sp>
      <p:sp>
        <p:nvSpPr>
          <p:cNvPr id="5" name="Footer"/>
          <p:cNvSpPr txBox="1"/>
          <p:nvPr/>
        </p:nvSpPr>
        <p:spPr>
          <a:xfrm>
            <a:off x="760000" y="6120000"/>
            <a:ext cx="10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1000" dirty="0" smtClean="0">
                <a:solidFill>
                  <a:srgbClr val="94A3B8"/>
                </a:solidFill>
              </a:rPr>
              <a:t>OKR/KPI HR • Slide 5</a:t>
            </a:r>
            <a:endParaRPr lang="vi-VN" sz="100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4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2600" dirty="0" smtClean="0" b="1">
                <a:solidFill>
                  <a:srgbClr val="0F172A"/>
                </a:solidFill>
              </a:rPr>
              <a:t>Phân quyền thực tế theo chức năng</a:t>
            </a:r>
            <a:endParaRPr lang="vi-VN" sz="2600">
              <a:solidFill>
                <a:srgbClr val="0F172A"/>
              </a:solidFill>
            </a:endParaRPr>
          </a:p>
        </p:txBody>
      </p:sp>
      <p:sp>
        <p:nvSpPr>
          <p:cNvPr id="4" name="Content"/>
          <p:cNvSpPr txBox="1"/>
          <p:nvPr/>
        </p:nvSpPr>
        <p:spPr>
          <a:xfrm>
            <a:off x="760000" y="138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Admin: xem/tạo/sửa/xóa user, tạo chu kỳ, tạo hồ sơ, phê duyệt, khóa và mở khóa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HR: xem rộng, tạo chu kỳ, tạo hồ sơ, cập nhật tiêu chí, duyệt HR và khóa hồ sơ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Manager: thao tác trong phạm vi đội nhóm hoặc phòng ban được giao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Employee: chỉ cập nhật dữ liệu được phép trên hồ sơ của chính mình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Backend là lớp chặn cuối, không chỉ dựa vào ẩn nút ở frontend</a:t>
            </a:r>
            <a:endParaRPr lang="vi-VN" sz="1800">
              <a:solidFill>
                <a:srgbClr val="334155"/>
              </a:solidFill>
            </a:endParaRPr>
          </a:p>
        </p:txBody>
      </p:sp>
      <p:sp>
        <p:nvSpPr>
          <p:cNvPr id="5" name="Footer"/>
          <p:cNvSpPr txBox="1"/>
          <p:nvPr/>
        </p:nvSpPr>
        <p:spPr>
          <a:xfrm>
            <a:off x="760000" y="6120000"/>
            <a:ext cx="10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1000" dirty="0" smtClean="0">
                <a:solidFill>
                  <a:srgbClr val="94A3B8"/>
                </a:solidFill>
              </a:rPr>
              <a:t>OKR/KPI HR • Slide 6</a:t>
            </a:r>
            <a:endParaRPr lang="vi-VN" sz="100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4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2600" dirty="0" smtClean="0" b="1">
                <a:solidFill>
                  <a:srgbClr val="0F172A"/>
                </a:solidFill>
              </a:rPr>
              <a:t>Workflow trạng thái hồ sơ</a:t>
            </a:r>
            <a:endParaRPr lang="vi-VN" sz="2600">
              <a:solidFill>
                <a:srgbClr val="0F172A"/>
              </a:solidFill>
            </a:endParaRPr>
          </a:p>
        </p:txBody>
      </p:sp>
      <p:sp>
        <p:nvSpPr>
          <p:cNvPr id="4" name="Content"/>
          <p:cNvSpPr txBox="1"/>
          <p:nvPr/>
        </p:nvSpPr>
        <p:spPr>
          <a:xfrm>
            <a:off x="760000" y="138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Các trạng thái chính: draft, employee_submitted, manager_reviewed, hr_reviewed, approved, locked, returned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Nhân viên submit khi dữ liệu đã đủ và đúng quy tắc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Manager duyệt cấp quản lý hoặc trả về bổ sung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HR hoặc Admin duyệt tiếp, hoàn tất và khóa hồ sơ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Chỉ Admin có quyền mở khóa hồ sơ đã khóa</a:t>
            </a:r>
            <a:endParaRPr lang="vi-VN" sz="1800">
              <a:solidFill>
                <a:srgbClr val="334155"/>
              </a:solidFill>
            </a:endParaRPr>
          </a:p>
        </p:txBody>
      </p:sp>
      <p:sp>
        <p:nvSpPr>
          <p:cNvPr id="5" name="Footer"/>
          <p:cNvSpPr txBox="1"/>
          <p:nvPr/>
        </p:nvSpPr>
        <p:spPr>
          <a:xfrm>
            <a:off x="760000" y="6120000"/>
            <a:ext cx="10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1000" dirty="0" smtClean="0">
                <a:solidFill>
                  <a:srgbClr val="94A3B8"/>
                </a:solidFill>
              </a:rPr>
              <a:t>OKR/KPI HR • Slide 7</a:t>
            </a:r>
            <a:endParaRPr lang="vi-VN" sz="100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4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2600" dirty="0" smtClean="0" b="1">
                <a:solidFill>
                  <a:srgbClr val="0F172A"/>
                </a:solidFill>
              </a:rPr>
              <a:t>Rule chặn và cơ chế kiểm soát</a:t>
            </a:r>
            <a:endParaRPr lang="vi-VN" sz="2600">
              <a:solidFill>
                <a:srgbClr val="0F172A"/>
              </a:solidFill>
            </a:endParaRPr>
          </a:p>
        </p:txBody>
      </p:sp>
      <p:sp>
        <p:nvSpPr>
          <p:cNvPr id="4" name="Content"/>
          <p:cNvSpPr txBox="1"/>
          <p:nvPr/>
        </p:nvSpPr>
        <p:spPr>
          <a:xfrm>
            <a:off x="760000" y="138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Nhân viên chỉ được cập nhật trong khoảng ngày hiệu lực của kỳ đánh giá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Tổng hệ số toàn bộ tiêu chí không được vượt quá 7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Tiêu chí hoặc hồ sơ đã khóa sẽ không cho chỉnh sửa trái quyền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Submit bị chặn nếu thiếu mô tả, kế hoạch hoặc thực đạt ở tiêu chí bắt buộc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Dữ liệu nghiệp vụ mới đang chuẩn hóa theo English canonical trong database</a:t>
            </a:r>
            <a:endParaRPr lang="vi-VN" sz="1800">
              <a:solidFill>
                <a:srgbClr val="334155"/>
              </a:solidFill>
            </a:endParaRPr>
          </a:p>
        </p:txBody>
      </p:sp>
      <p:sp>
        <p:nvSpPr>
          <p:cNvPr id="5" name="Footer"/>
          <p:cNvSpPr txBox="1"/>
          <p:nvPr/>
        </p:nvSpPr>
        <p:spPr>
          <a:xfrm>
            <a:off x="760000" y="6120000"/>
            <a:ext cx="10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1000" dirty="0" smtClean="0">
                <a:solidFill>
                  <a:srgbClr val="94A3B8"/>
                </a:solidFill>
              </a:rPr>
              <a:t>OKR/KPI HR • Slide 8</a:t>
            </a:r>
            <a:endParaRPr lang="vi-VN" sz="100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4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2600" dirty="0" smtClean="0" b="1">
                <a:solidFill>
                  <a:srgbClr val="0F172A"/>
                </a:solidFill>
              </a:rPr>
              <a:t>Điểm tốt và điểm tối ưu của hệ thống</a:t>
            </a:r>
            <a:endParaRPr lang="vi-VN" sz="2600">
              <a:solidFill>
                <a:srgbClr val="0F172A"/>
              </a:solidFill>
            </a:endParaRPr>
          </a:p>
        </p:txBody>
      </p:sp>
      <p:sp>
        <p:nvSpPr>
          <p:cNvPr id="4" name="Content"/>
          <p:cNvSpPr txBox="1"/>
          <p:nvPr/>
        </p:nvSpPr>
        <p:spPr>
          <a:xfrm>
            <a:off x="760000" y="138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Một workspace duy nhất giúp người dùng đỡ rối và thao tác nhanh hơn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Đã dọn phần legacy lớn ở frontend và backend để codebase gọn hơn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rating_level đã chuẩn hóa sang English canonical để dữ liệu nhất quán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API date-only trả chuẩn YYYY-MM-DD, giảm lệch múi giờ ở client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Manager không còn đọc được toàn bộ user directory như trước</a:t>
            </a:r>
            <a:endParaRPr lang="vi-VN" sz="1800">
              <a:solidFill>
                <a:srgbClr val="334155"/>
              </a:solidFill>
            </a:endParaRPr>
          </a:p>
        </p:txBody>
      </p:sp>
      <p:sp>
        <p:nvSpPr>
          <p:cNvPr id="5" name="Footer"/>
          <p:cNvSpPr txBox="1"/>
          <p:nvPr/>
        </p:nvSpPr>
        <p:spPr>
          <a:xfrm>
            <a:off x="760000" y="6120000"/>
            <a:ext cx="10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1000" dirty="0" smtClean="0">
                <a:solidFill>
                  <a:srgbClr val="94A3B8"/>
                </a:solidFill>
              </a:rPr>
              <a:t>OKR/KPI HR • Slide 9</a:t>
            </a:r>
            <a:endParaRPr lang="vi-VN" sz="100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4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2600" dirty="0" smtClean="0" b="1">
                <a:solidFill>
                  <a:srgbClr val="0F172A"/>
                </a:solidFill>
              </a:rPr>
              <a:t>Nhược điểm và lưu ý thực tế</a:t>
            </a:r>
            <a:endParaRPr lang="vi-VN" sz="2600">
              <a:solidFill>
                <a:srgbClr val="0F172A"/>
              </a:solidFill>
            </a:endParaRPr>
          </a:p>
        </p:txBody>
      </p:sp>
      <p:sp>
        <p:nvSpPr>
          <p:cNvPr id="4" name="Content"/>
          <p:cNvSpPr txBox="1"/>
          <p:nvPr/>
        </p:nvSpPr>
        <p:spPr>
          <a:xfrm>
            <a:off x="760000" y="138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Chưa có test tự động đầy đủ, hiện vẫn dựa nhiều vào build và smoke test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Rule nhập business text bằng tiếng Anh cần training người dùng nội bộ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Native date input vẫn có thể chịu ảnh hưởng bởi locale của trình duyệt hoặc hệ điều hành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Workflow hiện khá chặt, sẽ cần Admin hỗ trợ khi gặp ngoại lệ hoặc cần mở khóa</a:t>
            </a:r>
            <a:endParaRPr lang="vi-VN" sz="1800">
              <a:solidFill>
                <a:srgbClr val="334155"/>
              </a:solidFill>
            </a:endParaRPr>
          </a:p>
        </p:txBody>
      </p:sp>
      <p:sp>
        <p:nvSpPr>
          <p:cNvPr id="5" name="Footer"/>
          <p:cNvSpPr txBox="1"/>
          <p:nvPr/>
        </p:nvSpPr>
        <p:spPr>
          <a:xfrm>
            <a:off x="760000" y="6120000"/>
            <a:ext cx="10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1000" dirty="0" smtClean="0">
                <a:solidFill>
                  <a:srgbClr val="94A3B8"/>
                </a:solidFill>
              </a:rPr>
              <a:t>OKR/KPI HR • Slide 10</a:t>
            </a:r>
            <a:endParaRPr lang="vi-VN" sz="100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4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2600" dirty="0" smtClean="0" b="1">
                <a:solidFill>
                  <a:srgbClr val="0F172A"/>
                </a:solidFill>
              </a:rPr>
              <a:t>Khuyến nghị áp dụng tại doanh nghiệp</a:t>
            </a:r>
            <a:endParaRPr lang="vi-VN" sz="2600">
              <a:solidFill>
                <a:srgbClr val="0F172A"/>
              </a:solidFill>
            </a:endParaRPr>
          </a:p>
        </p:txBody>
      </p:sp>
      <p:sp>
        <p:nvSpPr>
          <p:cNvPr id="4" name="Content"/>
          <p:cNvSpPr txBox="1"/>
          <p:nvPr/>
        </p:nvSpPr>
        <p:spPr>
          <a:xfrm>
            <a:off x="760000" y="138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Chuẩn hóa trước danh sách nhân sự, mã nhân viên, phòng ban và manager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Tạo sẵn chu kỳ và khung tiêu chí theo từng bộ phận trước khi rollout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Đào tạo ngắn cho Manager và Employee về cách cập nhật hồ sơ đúng chuẩn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Thiết lập checklist deploy, backup database và bước backfill dữ liệu khi nâng cấp</a:t>
            </a:r>
            <a:endParaRPr lang="vi-VN" sz="1800">
              <a:solidFill>
                <a:srgbClr val="334155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334155"/>
                </a:solidFill>
              </a:rPr>
              <a:t>Giai đoạn sau nên bổ sung test tự động, export báo cáo và dashboard BI nếu cần</a:t>
            </a:r>
            <a:endParaRPr lang="vi-VN" sz="1800">
              <a:solidFill>
                <a:srgbClr val="334155"/>
              </a:solidFill>
            </a:endParaRPr>
          </a:p>
        </p:txBody>
      </p:sp>
      <p:sp>
        <p:nvSpPr>
          <p:cNvPr id="5" name="Footer"/>
          <p:cNvSpPr txBox="1"/>
          <p:nvPr/>
        </p:nvSpPr>
        <p:spPr>
          <a:xfrm>
            <a:off x="760000" y="6120000"/>
            <a:ext cx="10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1000" dirty="0" smtClean="0">
                <a:solidFill>
                  <a:srgbClr val="94A3B8"/>
                </a:solidFill>
              </a:rPr>
              <a:t>OKR/KPI HR • Slide 11</a:t>
            </a:r>
            <a:endParaRPr lang="vi-VN" sz="100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280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20000" y="42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2600" dirty="0" smtClean="0" b="1">
                <a:solidFill>
                  <a:srgbClr val="FFFFFF"/>
                </a:solidFill>
              </a:rPr>
              <a:t>Kết luận</a:t>
            </a:r>
            <a:endParaRPr lang="vi-VN" sz="2600">
              <a:solidFill>
                <a:srgbClr val="FFFFFF"/>
              </a:solidFill>
            </a:endParaRPr>
          </a:p>
        </p:txBody>
      </p:sp>
      <p:sp>
        <p:nvSpPr>
          <p:cNvPr id="4" name="Content"/>
          <p:cNvSpPr txBox="1"/>
          <p:nvPr/>
        </p:nvSpPr>
        <p:spPr>
          <a:xfrm>
            <a:off x="760000" y="138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marL="342900" indent="-228600">
              <a:buChar char="•"/>
            </a:pPr>
            <a:r>
              <a:rPr lang="vi-VN" sz="1800" dirty="0" smtClean="0">
                <a:solidFill>
                  <a:srgbClr val="E2E8F0"/>
                </a:solidFill>
              </a:rPr>
              <a:t>Hệ thống đã được tối giản thành một web nội bộ thực dụng, dễ triển khai và dễ dùng</a:t>
            </a:r>
            <a:endParaRPr lang="vi-VN" sz="1800">
              <a:solidFill>
                <a:srgbClr val="E2E8F0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E2E8F0"/>
                </a:solidFill>
              </a:rPr>
              <a:t>Phân quyền hiện rõ ràng, workflow phê duyệt chặt và phù hợp môi trường công ty thật</a:t>
            </a:r>
            <a:endParaRPr lang="vi-VN" sz="1800">
              <a:solidFill>
                <a:srgbClr val="E2E8F0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E2E8F0"/>
                </a:solidFill>
              </a:rPr>
              <a:t>Phù hợp nhất cho doanh nghiệp cần đánh giá hiệu suất theo kỳ trên VPS nội bộ</a:t>
            </a:r>
            <a:endParaRPr lang="vi-VN" sz="1800">
              <a:solidFill>
                <a:srgbClr val="E2E8F0"/>
              </a:solidFill>
            </a:endParaRPr>
          </a:p>
          <a:p>
            <a:pPr marL="342900" indent="-228600">
              <a:buChar char="•"/>
            </a:pPr>
            <a:r>
              <a:rPr lang="vi-VN" sz="1800" dirty="0" smtClean="0">
                <a:solidFill>
                  <a:srgbClr val="E2E8F0"/>
                </a:solidFill>
              </a:rPr>
              <a:t>Có thể tiếp tục mở rộng báo cáo, automation và kiểm thử trong giai đoạn tiếp theo</a:t>
            </a:r>
            <a:endParaRPr lang="vi-VN" sz="1800">
              <a:solidFill>
                <a:srgbClr val="E2E8F0"/>
              </a:solidFill>
            </a:endParaRPr>
          </a:p>
        </p:txBody>
      </p:sp>
      <p:sp>
        <p:nvSpPr>
          <p:cNvPr id="5" name="Footer"/>
          <p:cNvSpPr txBox="1"/>
          <p:nvPr/>
        </p:nvSpPr>
        <p:spPr>
          <a:xfrm>
            <a:off x="760000" y="6120000"/>
            <a:ext cx="10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vi-VN" sz="1000" dirty="0" smtClean="0">
                <a:solidFill>
                  <a:srgbClr val="94A3B8"/>
                </a:solidFill>
              </a:rPr>
              <a:t>OKR/KPI HR • Slide 12</a:t>
            </a:r>
            <a:endParaRPr lang="vi-VN" sz="100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orate Blue">
  <a:themeElements>
    <a:clrScheme name="Corporate Blue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2563EB"/>
      </a:accent1>
      <a:accent2>
        <a:srgbClr val="0EA5E9"/>
      </a:accent2>
      <a:accent3>
        <a:srgbClr val="14B8A6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Corporate Blue">
      <a:majorFont>
        <a:latin typeface="Aptos Display"/>
        <a:ea typeface="Aptos"/>
        <a:cs typeface="Aptos"/>
      </a:majorFont>
      <a:minorFont>
        <a:latin typeface="Aptos"/>
        <a:ea typeface="Aptos"/>
        <a:cs typeface="Aptos"/>
      </a:minorFont>
    </a:fontScheme>
    <a:fmtScheme name="Corporate Blu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 cap="flat" cmpd="sng" algn="ctr">
          <a:solidFill>
            <a:schemeClr val="accent1"/>
          </a:solidFill>
        </a:ln>
        <a:ln w="25400" cap="flat" cmpd="sng" algn="ctr">
          <a:solidFill>
            <a:schemeClr val="accent1"/>
          </a:solidFill>
        </a:ln>
        <a:ln w="38100" cap="flat" cmpd="sng" algn="ctr">
          <a:solidFill>
            <a:schemeClr val="accent1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12</Slides>
  <PresentationFormat>On-screen Show (16:9)</PresentationFormat>
  <TitlesOfParts>
    <vt:vector size="12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OKR/KPI HR - Bản trình bày tổng hợp</dc:title>
  <dc:creator>Codex</dc:creator>
  <cp:lastModifiedBy>Codex</cp:lastModifiedBy>
  <dcterms:created xsi:type="dcterms:W3CDTF">2026-04-06T19:57:06Z</dcterms:created>
  <dcterms:modified xsi:type="dcterms:W3CDTF">2026-04-06T19:57:06Z</dcterms:modified>
</cp:coreProperties>
</file>